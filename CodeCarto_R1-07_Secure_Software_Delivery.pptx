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88952" cy="73152"/>
          </a:xfrm>
          <a:prstGeom prst="rect">
            <a:avLst/>
          </a:prstGeom>
          <a:solidFill>
            <a:srgbClr val="7A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A1C1C"/>
                </a:solidFill>
                <a:latin typeface="Consolas"/>
              </a:rPr>
              <a:t>HACKROYNX 2.0  ·  ROUND 1  ·  PS ID: R1-07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7200" b="1">
                <a:solidFill>
                  <a:srgbClr val="0E0E10"/>
                </a:solidFill>
                <a:latin typeface="Georgia"/>
              </a:rPr>
              <a:t>WORLD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5C5952"/>
                </a:solidFill>
                <a:latin typeface="Georgia"/>
              </a:rPr>
              <a:t>A fail-closed security release gate for modern delivery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5661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E0E10"/>
                </a:solidFill>
                <a:latin typeface="Georgia"/>
              </a:rPr>
              <a:t>12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C5952"/>
                </a:solidFill>
                <a:latin typeface="Calibri"/>
              </a:rPr>
              <a:t>
security scanners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3611880"/>
            <a:ext cx="18288" cy="731520"/>
          </a:xfrm>
          <a:prstGeom prst="rect">
            <a:avLst/>
          </a:prstGeom>
          <a:solidFill>
            <a:srgbClr val="C9C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35661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E0E10"/>
                </a:solidFill>
                <a:latin typeface="Georgia"/>
              </a:rPr>
              <a:t>CVSS 3.1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C5952"/>
                </a:solidFill>
                <a:latin typeface="Calibri"/>
              </a:rPr>
              <a:t>
risk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28231" y="3611880"/>
            <a:ext cx="18288" cy="731520"/>
          </a:xfrm>
          <a:prstGeom prst="rect">
            <a:avLst/>
          </a:prstGeom>
          <a:solidFill>
            <a:srgbClr val="C9C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5661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E0E10"/>
                </a:solidFill>
                <a:latin typeface="Georgia"/>
              </a:rPr>
              <a:t>49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C5952"/>
                </a:solidFill>
                <a:latin typeface="Calibri"/>
              </a:rPr>
              <a:t>
tests green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77072" y="3611880"/>
            <a:ext cx="18288" cy="731520"/>
          </a:xfrm>
          <a:prstGeom prst="rect">
            <a:avLst/>
          </a:prstGeom>
          <a:solidFill>
            <a:srgbClr val="C9C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5661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E0E10"/>
                </a:solidFill>
                <a:latin typeface="Georgia"/>
              </a:rPr>
              <a:t>4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C5952"/>
                </a:solidFill>
                <a:latin typeface="Calibri"/>
              </a:rPr>
              <a:t>
report formats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C5952"/>
                </a:solidFill>
                <a:latin typeface="Calibri"/>
              </a:rPr>
              <a:t>Team CodeCarto  ·  scans third-party code, configs, secrets &amp; containers — then BLOCKS unsafe releases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5577840"/>
            <a:ext cx="2286000" cy="502920"/>
          </a:xfrm>
          <a:prstGeom prst="roundRect">
            <a:avLst/>
          </a:prstGeom>
          <a:solidFill>
            <a:srgbClr val="0E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▶  Live demo ready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55664"/>
            <a:ext cx="12188952" cy="54864"/>
          </a:xfrm>
          <a:prstGeom prst="rect">
            <a:avLst/>
          </a:prstGeom>
          <a:solidFill>
            <a:srgbClr val="7A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CodeCarto  ·  R1-07 Secure Software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1 /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01 ·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A1C1C"/>
                </a:solidFill>
                <a:latin typeface="Calibri"/>
              </a:rPr>
              <a:t>02 · PROBLEM &amp; APPROACH  —  PS ID: R1-07 Secure Software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E0E10"/>
                </a:solidFill>
                <a:latin typeface="Georgia"/>
              </a:rPr>
              <a:t>Ship fast, but never ship blind.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C5952"/>
                </a:solidFill>
                <a:latin typeface="Calibri"/>
              </a:rPr>
              <a:t>Pipelines move code, libraries, images, configs and secrets to prod daily — one overlooked flaw becomes breach, outage or supply-chain compromise.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A1C1C"/>
                </a:solidFill>
                <a:latin typeface="Consola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Vulnerable dependencies  </a:t>
            </a:r>
            <a:r>
              <a:rPr sz="1700">
                <a:solidFill>
                  <a:srgbClr val="0E0E10"/>
                </a:solidFill>
                <a:latin typeface="Calibri"/>
              </a:rPr>
              <a:t>— known CVEs ride into prod inside third-party libraries.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Leaked secrets  </a:t>
            </a:r>
            <a:r>
              <a:rPr sz="1700">
                <a:solidFill>
                  <a:srgbClr val="0E0E10"/>
                </a:solidFill>
                <a:latin typeface="Calibri"/>
              </a:rPr>
              <a:t>— tokens &amp; keys hardcoded across contributors' code.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Silent misconfiguration  </a:t>
            </a:r>
            <a:r>
              <a:rPr sz="1700">
                <a:solidFill>
                  <a:srgbClr val="0E0E10"/>
                </a:solidFill>
                <a:latin typeface="Calibri"/>
              </a:rPr>
              <a:t>— weak headers, TLS and cookies nobody grades.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No release brakes  </a:t>
            </a:r>
            <a:r>
              <a:rPr sz="1700">
                <a:solidFill>
                  <a:srgbClr val="0E0E10"/>
                </a:solidFill>
                <a:latin typeface="Calibri"/>
              </a:rPr>
              <a:t>— nothing stops a risky build from deploying.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A1C1C"/>
                </a:solidFill>
                <a:latin typeface="Consolas"/>
              </a:rPr>
              <a:t>OUR APPROACH — FAIL-CLOSED BY DEFAULT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108960"/>
            <a:ext cx="914400" cy="10515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E0E10"/>
                </a:solidFill>
                <a:latin typeface="Consolas"/>
              </a:rPr>
              <a:t>SCAN
12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5204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7A1C1C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4928" y="3108960"/>
            <a:ext cx="914400" cy="10515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E0E10"/>
                </a:solidFill>
                <a:latin typeface="Consolas"/>
              </a:rPr>
              <a:t>NORMALIZE
one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35204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7A1C1C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6" y="3108960"/>
            <a:ext cx="914400" cy="10515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E0E10"/>
                </a:solidFill>
                <a:latin typeface="Consolas"/>
              </a:rPr>
              <a:t>SCORE
CVSS +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3456" y="35204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7A1C1C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73184" y="3108960"/>
            <a:ext cx="914400" cy="10515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E0E10"/>
                </a:solidFill>
                <a:latin typeface="Consolas"/>
              </a:rPr>
              <a:t>GATE
block /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7584" y="35204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7A1C1C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97312" y="3108960"/>
            <a:ext cx="914400" cy="10515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E0E10"/>
                </a:solidFill>
                <a:latin typeface="Consolas"/>
              </a:rPr>
              <a:t>RETEST
prove the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3484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0E0E10"/>
                </a:solidFill>
                <a:latin typeface="Calibri"/>
              </a:rPr>
              <a:t>Every build is scanned, scored 0–100, and gated: BLOCKED until criticals, health floor and evidence checks pass.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>
                <a:solidFill>
                  <a:srgbClr val="0E0E10"/>
                </a:solidFill>
                <a:latin typeface="Calibri"/>
              </a:rPr>
              <a:t>Developers get fix guidance plus proof-of-fix — safety without slowing the pipeline.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55664"/>
            <a:ext cx="12188952" cy="54864"/>
          </a:xfrm>
          <a:prstGeom prst="rect">
            <a:avLst/>
          </a:prstGeom>
          <a:solidFill>
            <a:srgbClr val="7A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CodeCarto  ·  R1-07 Secure Software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28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2 /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02 · PROBLEM &amp;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A1C1C"/>
                </a:solidFill>
                <a:latin typeface="Calibri"/>
              </a:rPr>
              <a:t>03 · INNOVATION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E0E10"/>
                </a:solidFill>
                <a:latin typeface="Georgia"/>
              </a:rPr>
              <a:t>Not another scanner — a decision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394960" cy="17373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6517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01 · One schema for every signal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alibri"/>
              </a:rPr>
              <a:t>
SAST, DAST, SCA, secrets and config findings normalize into a single Common Finding Format with CVSS 3.1 — apples-to-apples risk ranking.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68880"/>
            <a:ext cx="5394960" cy="17373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6517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02 · Evidence you can trust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alibri"/>
              </a:rPr>
              <a:t>
Tokens and keys masked before storage, filesystem scans jailed, DNS pinned, SSRF blocked — results are reproducible, not hallucinated.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5394960" cy="17373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617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03 · Policy as a release gate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alibri"/>
              </a:rPr>
              <a:t>
Block on criticals, health floor, incomplete scans. CI-native: quality gates, SARIF upload, CycloneDX SBOM 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34840"/>
            <a:ext cx="5394960" cy="17373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617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04 · Proof, not promises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alibri"/>
              </a:rPr>
              <a:t>
Fingerprint-based retest (sha1 of target + check + component) verdicts each fix FIXED or STILL PRESENT, with before/after health delta.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55664"/>
            <a:ext cx="12188952" cy="54864"/>
          </a:xfrm>
          <a:prstGeom prst="rect">
            <a:avLst/>
          </a:prstGeom>
          <a:solidFill>
            <a:srgbClr val="7A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CodeCarto  ·  R1-07 Secure Software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28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3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03 · INNOVATION &amp;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A1C1C"/>
                </a:solidFill>
                <a:latin typeface="Calibri"/>
              </a:rPr>
              <a:t>04 ·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E0E10"/>
                </a:solidFill>
                <a:latin typeface="Georgia"/>
              </a:rPr>
              <a:t>Pipeline in, decision 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11091672" cy="713232"/>
          </a:xfrm>
          <a:prstGeom prst="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95727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1C"/>
                </a:solidFill>
                <a:latin typeface="Consolas"/>
              </a:rPr>
              <a:t>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478024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onsolas"/>
              </a:rPr>
              <a:t>vulnerable lab :8080  ·  real app :3000  ·  source tree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36391"/>
            <a:ext cx="11091672" cy="713232"/>
          </a:xfrm>
          <a:prstGeom prst="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39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1C"/>
                </a:solidFill>
                <a:latin typeface="Consolas"/>
              </a:rPr>
              <a:t>AUTH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282696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onsolas"/>
              </a:rPr>
              <a:t>loopback / RFC1918 only  ·  SSRF + metadata-IP blocked  ·  RBAC viewer / analyst / 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41063"/>
            <a:ext cx="11091672" cy="713232"/>
          </a:xfrm>
          <a:prstGeom prst="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0507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1C"/>
                </a:solidFill>
                <a:latin typeface="Consolas"/>
              </a:rPr>
              <a:t>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08736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onsolas"/>
              </a:rPr>
              <a:t>thread-per-assessment  ·  watchdog + timeouts  ·  12 scanner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45736"/>
            <a:ext cx="11091672" cy="713232"/>
          </a:xfrm>
          <a:prstGeom prst="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09744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1C"/>
                </a:solidFill>
                <a:latin typeface="Consolas"/>
              </a:rPr>
              <a:t>FINDING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89204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onsolas"/>
              </a:rPr>
              <a:t>normalize → dedupe (fingerprint) → CVSS 3.1 → mask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50407"/>
            <a:ext cx="11091672" cy="713232"/>
          </a:xfrm>
          <a:prstGeom prst="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614416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A1C1C"/>
                </a:solidFill>
                <a:latin typeface="Consolas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69671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onsolas"/>
              </a:rPr>
              <a:t>policy gate BLOCKED / APPROVED  ·  PDF · JSON · MD · CSV  ·  retest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3387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C5952"/>
                </a:solidFill>
                <a:latin typeface="Consolas"/>
              </a:rPr>
              <a:t>FastAPI  ·  SQLAlchemy / SQLite  ·  vanilla-JS SPA  ·  Go binaries (portia · bomber · chainscanner)  ·  Docker non-root  ·  JWT + audit logs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55664"/>
            <a:ext cx="12188952" cy="54864"/>
          </a:xfrm>
          <a:prstGeom prst="rect">
            <a:avLst/>
          </a:prstGeom>
          <a:solidFill>
            <a:srgbClr val="7A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CodeCarto  ·  R1-07 Secure Software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28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4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04 · TECHNICAL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A1C1C"/>
                </a:solidFill>
                <a:latin typeface="Calibri"/>
              </a:rPr>
              <a:t>05 ·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E0E10"/>
                </a:solidFill>
                <a:latin typeface="Georgia"/>
              </a:rPr>
              <a:t>The math and machinery behind the verdict.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Health score  </a:t>
            </a:r>
            <a:r>
              <a:rPr sz="1700">
                <a:solidFill>
                  <a:srgbClr val="0E0E10"/>
                </a:solidFill>
                <a:latin typeface="Calibri"/>
              </a:rPr>
              <a:t>100 − (5×Critical + 3×High + 1.5×Medium + 0.5×Low), clamped 0–100. 38 curated CVSS FIRST-vector presets.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Retest proof  </a:t>
            </a:r>
            <a:r>
              <a:rPr sz="1700">
                <a:solidFill>
                  <a:srgbClr val="0E0E10"/>
                </a:solidFill>
                <a:latin typeface="Calibri"/>
              </a:rPr>
              <a:t>Re-runs only the failing check; fingerprint compare → FIXED / STILL_PRESENT / INCONCLUSIVE (never false FIXED).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Evidence safety  </a:t>
            </a:r>
            <a:r>
              <a:rPr sz="1700">
                <a:solidFill>
                  <a:srgbClr val="0E0E10"/>
                </a:solidFill>
                <a:latin typeface="Calibri"/>
              </a:rPr>
              <a:t>Secrets/cookies/keys redacted pre-write; scanners jailed to authorized paths; every run audit-logged.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6032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Policy knobs  </a:t>
            </a:r>
            <a:r>
              <a:rPr sz="1700">
                <a:solidFill>
                  <a:srgbClr val="0E0E10"/>
                </a:solidFill>
                <a:latin typeface="Calibri"/>
              </a:rPr>
              <a:t>block_on_critical, block_on_high count, health floor, block_on_incomplete — fail-closed defaults.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Access control  </a:t>
            </a:r>
            <a:r>
              <a:rPr sz="1700">
                <a:solidFill>
                  <a:srgbClr val="0E0E10"/>
                </a:solidFill>
                <a:latin typeface="Calibri"/>
              </a:rPr>
              <a:t>viewer reads · analyst scans/retests · admin audits. Registration gate via REGISTRATION_ENABLED.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Scale path  </a:t>
            </a:r>
            <a:r>
              <a:rPr sz="1700">
                <a:solidFill>
                  <a:srgbClr val="0E0E10"/>
                </a:solidFill>
                <a:latin typeface="Calibri"/>
              </a:rPr>
              <a:t>server-side severity + text search, limit/offset, X-Total-Count — findings UI pages 25 at a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88952" cy="54864"/>
          </a:xfrm>
          <a:prstGeom prst="rect">
            <a:avLst/>
          </a:prstGeom>
          <a:solidFill>
            <a:srgbClr val="7A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CodeCarto  ·  R1-07 Secure Software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5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05 · IMPLEMENTATION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A1C1C"/>
                </a:solidFill>
                <a:latin typeface="Calibri"/>
              </a:rPr>
              <a:t>06 · FEASIBILITY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E0E10"/>
                </a:solidFill>
                <a:latin typeface="Georgia"/>
              </a:rPr>
              <a:t>Runs in a minute. Pays off on every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60-second start  </a:t>
            </a:r>
            <a:r>
              <a:rPr sz="1700">
                <a:solidFill>
                  <a:srgbClr val="0E0E10"/>
                </a:solidFill>
                <a:latin typeface="Calibri"/>
              </a:rPr>
              <a:t>pip install → start_all.py → lab :8080 + platform :8000. Dockerized, CI on every push.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Proven quality  </a:t>
            </a:r>
            <a:r>
              <a:rPr sz="1700">
                <a:solidFill>
                  <a:srgbClr val="0E0E10"/>
                </a:solidFill>
                <a:latin typeface="Calibri"/>
              </a:rPr>
              <a:t>49 pytest green · pip-audit · SARIF upload · quality + release gates in CI.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Real coverage  </a:t>
            </a:r>
            <a:r>
              <a:rPr sz="1700">
                <a:solidFill>
                  <a:srgbClr val="0E0E10"/>
                </a:solidFill>
                <a:latin typeface="Calibri"/>
              </a:rPr>
              <a:t>OWASP Top-10 classes: auth, IDOR, SQLi, XSS, headers, TLS, secrets, CVEs, supply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6032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Impact  </a:t>
            </a:r>
            <a:r>
              <a:rPr sz="1700">
                <a:solidFill>
                  <a:srgbClr val="0E0E10"/>
                </a:solidFill>
                <a:latin typeface="Calibri"/>
              </a:rPr>
              <a:t>Criticals blocked pre-deploy · devs get fix + proof · releases ship with evidence, not hope.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No slowdown  </a:t>
            </a:r>
            <a:r>
              <a:rPr sz="1700">
                <a:solidFill>
                  <a:srgbClr val="0E0E10"/>
                </a:solidFill>
                <a:latin typeface="Calibri"/>
              </a:rPr>
              <a:t>Only failing checks re-run; everything else is cached verdicts.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>
                <a:solidFill>
                  <a:srgbClr val="7A1C1C"/>
                </a:solidFill>
                <a:latin typeface="Calibri"/>
              </a:rPr>
              <a:t>Roadmap  </a:t>
            </a:r>
            <a:r>
              <a:rPr sz="1700">
                <a:solidFill>
                  <a:srgbClr val="0E0E10"/>
                </a:solidFill>
                <a:latin typeface="Calibri"/>
              </a:rPr>
              <a:t>Postgres · OPA policies · IDE plugin · scheduled pipeline scans.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88952" cy="54864"/>
          </a:xfrm>
          <a:prstGeom prst="rect">
            <a:avLst/>
          </a:prstGeom>
          <a:solidFill>
            <a:srgbClr val="7A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CodeCarto  ·  R1-07 Secure Software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6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06 · FEASIBILITY &amp;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88952" cy="73152"/>
          </a:xfrm>
          <a:prstGeom prst="rect">
            <a:avLst/>
          </a:prstGeom>
          <a:solidFill>
            <a:srgbClr val="7A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A1C1C"/>
                </a:solidFill>
                <a:latin typeface="Consolas"/>
              </a:rPr>
              <a:t>07 ·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0E0E10"/>
                </a:solidFill>
                <a:latin typeface="Georgia"/>
              </a:rPr>
              <a:t>CodeCarto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377440"/>
            <a:ext cx="3017520" cy="17373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E0E10"/>
                </a:solidFill>
                <a:latin typeface="Georgia"/>
              </a:rPr>
              <a:t>Mehul Wagde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C5952"/>
                </a:solidFill>
                <a:latin typeface="Consolas"/>
              </a:rPr>
              <a:t>
linkedin.com/in/mehul-wagde-750796276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377440"/>
            <a:ext cx="3017520" cy="17373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6060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E0E10"/>
                </a:solidFill>
                <a:latin typeface="Georgia"/>
              </a:rPr>
              <a:t>Parth Toshniwal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C5952"/>
                </a:solidFill>
                <a:latin typeface="Consolas"/>
              </a:rPr>
              <a:t>
linkedin.com/in/parth-toshniwal-807211435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377440"/>
            <a:ext cx="3017520" cy="173736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6060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E0E10"/>
                </a:solidFill>
                <a:latin typeface="Georgia"/>
              </a:rPr>
              <a:t>Sarthak Sute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C5952"/>
                </a:solidFill>
                <a:latin typeface="Consolas"/>
              </a:rPr>
              <a:t>
linkedin.com/in/sarthak-sute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A1C1C"/>
                </a:solidFill>
                <a:latin typeface="Calibri"/>
              </a:rPr>
              <a:t>Faculty Mentor  ·  </a:t>
            </a:r>
          </a:p>
          <a:p>
            <a:pPr algn="ctr">
              <a:spcAft>
                <a:spcPts val="400"/>
              </a:spcAft>
            </a:pPr>
            <a:r>
              <a:rPr sz="2000" b="1">
                <a:solidFill>
                  <a:srgbClr val="0E0E10"/>
                </a:solidFill>
                <a:latin typeface="Georgia"/>
              </a:rPr>
              <a:t>Shringarika Pandey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C5952"/>
                </a:solidFill>
                <a:latin typeface="Consolas"/>
              </a:rPr>
              <a:t>PS ID: R1-07 Secure Software Delivery  ·  HackRoynx 2.0 Round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55664"/>
            <a:ext cx="12188952" cy="54864"/>
          </a:xfrm>
          <a:prstGeom prst="rect">
            <a:avLst/>
          </a:prstGeom>
          <a:solidFill>
            <a:srgbClr val="7A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CodeCarto  ·  R1-07 Secure Software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7 /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07 · TEAM MEMBERS &amp; MENTOR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A1C1C"/>
                </a:solidFill>
                <a:latin typeface="Calibri"/>
              </a:rPr>
              <a:t>APPENDIX · LIVE DEMO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E0E10"/>
                </a:solidFill>
                <a:latin typeface="Georgia"/>
              </a:rPr>
              <a:t>Sixty seconds from scan to proven fix.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2651760" cy="201168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6974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A1C1C"/>
                </a:solidFill>
                <a:latin typeface="Consolas"/>
              </a:rPr>
              <a:t>1 · SCAN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alibri"/>
              </a:rPr>
              <a:t>
New Assessment on the lab playground — 12 modules, live progress.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2468880"/>
            <a:ext cx="2651760" cy="201168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26974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A1C1C"/>
                </a:solidFill>
                <a:latin typeface="Consolas"/>
              </a:rPr>
              <a:t>2 · TRIAGE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alibri"/>
              </a:rPr>
              <a:t>
Findings ranked by CVSS; gate reads BLOCKED on criticals.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468880"/>
            <a:ext cx="2651760" cy="201168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26974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A1C1C"/>
                </a:solidFill>
                <a:latin typeface="Consolas"/>
              </a:rPr>
              <a:t>3 · FIX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alibri"/>
              </a:rPr>
              <a:t>
Flip lab patch toggles (headers, SQLi, IDOR…) — the actual code path heals.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2468880"/>
            <a:ext cx="2651760" cy="2011680"/>
          </a:xfrm>
          <a:prstGeom prst="roundRect">
            <a:avLst/>
          </a:prstGeom>
          <a:solidFill>
            <a:srgbClr val="F7F3E8"/>
          </a:solidFill>
          <a:ln>
            <a:solidFill>
              <a:srgbClr val="C9C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72016" y="26974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A1C1C"/>
                </a:solidFill>
                <a:latin typeface="Consolas"/>
              </a:rPr>
              <a:t>4 · PROVE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E0E10"/>
                </a:solidFill>
                <a:latin typeface="Calibri"/>
              </a:rPr>
              <a:t>
Retest → FIXED overlay; health climbs 68 → 91 with evidence attached.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C5952"/>
                </a:solidFill>
                <a:latin typeface="Calibri"/>
              </a:rPr>
              <a:t>Swap these boxes for real screenshots before submitting — judges score what they can see.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55664"/>
            <a:ext cx="12188952" cy="54864"/>
          </a:xfrm>
          <a:prstGeom prst="rect">
            <a:avLst/>
          </a:prstGeom>
          <a:solidFill>
            <a:srgbClr val="7A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CodeCarto  ·  R1-07 Secure Software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8 /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C5952"/>
                </a:solidFill>
                <a:latin typeface="Consolas"/>
              </a:rPr>
              <a:t>APPENDIX ·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